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01168"/>
            <a:ext cx="109728" cy="64556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143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AGENT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REPORT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Lantern Festival Night  ·  Chang'an, Tang Dynasty  ·  742 AD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长安西市  ·  元宵节之夜  ·  唐开元三十年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7315200" cy="274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77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   </a:t>
            </a:r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  </a:t>
            </a:r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MiniMax-M2   </a:t>
            </a:r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Smallville Framework  ·  April 27,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World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1521440" cy="228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Chang'an (长安), Tang Dynasty China — 742 AD, 30th year of Emperor Xuanzong's Kaiyuan era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West Market (西市): eastern terminus of the Silk Road; foreign merchants legally operated here under Tang commercial law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Population ~1 million — largest city in the world at the time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Lantern Festival (元宵节): the ONE night each year the nocturnal curfew was lifted — all social strata mixed freely under lantern light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170432"/>
            <a:ext cx="36576" cy="4389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17043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Lantern Festival?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481328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Curfew suspended → maximum social mixing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three agent archetypes have plausible reasons to be in the same space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historically specific LLM knowledge: 科举 exam system, Silk Road commerce, Tang social hierarchy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Creates dramatic tension: festival expectations vs. simulation's scheduling constraints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6601968"/>
            <a:ext cx="121920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664768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Context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0" y="6647688"/>
            <a:ext cx="1188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  ·  5,000 Steps  ·  742 AD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Agents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1521440" cy="228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88720"/>
            <a:ext cx="3749040" cy="347472"/>
          </a:xfrm>
          <a:prstGeom prst="rect">
            <a:avLst/>
          </a:prstGeom>
          <a:solidFill>
            <a:srgbClr val="1A1A2E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 Mingzhu  李明珠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3749040" cy="2560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36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 House Owner · age 32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792224"/>
            <a:ext cx="3749040" cy="3200400"/>
          </a:xfrm>
          <a:prstGeom prst="rect">
            <a:avLst/>
          </a:prstGeom>
          <a:solidFill>
            <a:srgbClr val="252540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observant, practical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95728"/>
            <a:ext cx="347472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Goal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679192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Lantern Festival gathering: arrange tea, cakes, lamps; welcome regulars and new visitors from 6 pm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188720"/>
            <a:ext cx="3749040" cy="347472"/>
          </a:xfrm>
          <a:prstGeom prst="rect">
            <a:avLst/>
          </a:prstGeom>
          <a:solidFill>
            <a:srgbClr val="1A1A2E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Chen Zian  陈子安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1536192"/>
            <a:ext cx="3749040" cy="2560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1536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Examination Candidate · age 24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1792224"/>
            <a:ext cx="3749040" cy="3200400"/>
          </a:xfrm>
          <a:prstGeom prst="rect">
            <a:avLst/>
          </a:prstGeom>
          <a:solidFill>
            <a:srgbClr val="252540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1874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Ambitious, disciplined, anxious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2395728"/>
            <a:ext cx="347472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Goal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2679192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for imperial exam: review Confucian classics, practice regulated verse, gather intelligence on examiner preferences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75320" y="1188720"/>
            <a:ext cx="3749040" cy="347472"/>
          </a:xfrm>
          <a:prstGeom prst="rect">
            <a:avLst/>
          </a:prstGeom>
          <a:solidFill>
            <a:srgbClr val="1A1A2E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Lushan  安禄山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75320" y="1536192"/>
            <a:ext cx="3749040" cy="2560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1536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Sogdian Merchant · age 38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75320" y="1792224"/>
            <a:ext cx="3749040" cy="3200400"/>
          </a:xfrm>
          <a:prstGeom prst="rect">
            <a:avLst/>
          </a:prstGeom>
          <a:solidFill>
            <a:srgbClr val="252540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1874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Shrewd, sociable, adaptive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12480" y="2395728"/>
            <a:ext cx="347472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Goal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2679192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glass cups &amp; spices at West Market; secure local partners; host trade feast before caravan departs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516636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seeded with 12 episodic memory nodes covering personal history, social knowledge, and event-specific preparation.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601968"/>
            <a:ext cx="121920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664768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Setup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0" y="6647688"/>
            <a:ext cx="1188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  ·  5,000 Steps  ·  742 AD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 Documentation — 14-Hour Arc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1521440" cy="228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34440"/>
            <a:ext cx="11521440" cy="502920"/>
          </a:xfrm>
          <a:prstGeom prst="rect">
            <a:avLst/>
          </a:prstGeom>
          <a:solidFill>
            <a:srgbClr val="252540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11521440" cy="502920"/>
          </a:xfrm>
          <a:prstGeom prst="rect">
            <a:avLst/>
          </a:prstGeom>
          <a:solidFill>
            <a:srgbClr val="2A2A5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234440"/>
            <a:ext cx="822960" cy="5029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71016"/>
            <a:ext cx="777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hosts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3756" y="1234440"/>
            <a:ext cx="233172" cy="502920"/>
          </a:xfrm>
          <a:prstGeom prst="rect">
            <a:avLst/>
          </a:prstGeom>
          <a:solidFill>
            <a:srgbClr val="6A2FAF"/>
          </a:solidFill>
          <a:ln/>
        </p:spPr>
      </p:sp>
      <p:sp>
        <p:nvSpPr>
          <p:cNvPr id="12" name="Shape 10"/>
          <p:cNvSpPr/>
          <p:nvPr/>
        </p:nvSpPr>
        <p:spPr>
          <a:xfrm>
            <a:off x="1897380" y="1234440"/>
            <a:ext cx="1645920" cy="502920"/>
          </a:xfrm>
          <a:prstGeom prst="rect">
            <a:avLst/>
          </a:prstGeom>
          <a:solidFill>
            <a:srgbClr val="2C5F2E"/>
          </a:solidFill>
          <a:ln/>
        </p:spPr>
      </p:sp>
      <p:sp>
        <p:nvSpPr>
          <p:cNvPr id="13" name="Text 11"/>
          <p:cNvSpPr/>
          <p:nvPr/>
        </p:nvSpPr>
        <p:spPr>
          <a:xfrm>
            <a:off x="1943100" y="1271016"/>
            <a:ext cx="1600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An: market/feast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31820" y="1234440"/>
            <a:ext cx="1645920" cy="502920"/>
          </a:xfrm>
          <a:prstGeom prst="rect">
            <a:avLst/>
          </a:prstGeom>
          <a:solidFill>
            <a:srgbClr val="1A4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177540" y="1271016"/>
            <a:ext cx="1600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studies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236708" y="1234440"/>
            <a:ext cx="164592" cy="502920"/>
          </a:xfrm>
          <a:prstGeom prst="rect">
            <a:avLst/>
          </a:prstGeom>
          <a:solidFill>
            <a:srgbClr val="6A2FAF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" y="1783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1783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1783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22:00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1783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20840" y="1783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66760" y="1783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12680" y="1783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58600" y="1783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07:53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212848"/>
            <a:ext cx="2743200" cy="1005840"/>
          </a:xfrm>
          <a:prstGeom prst="rect">
            <a:avLst/>
          </a:prstGeom>
          <a:solidFill>
            <a:srgbClr val="252540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0040" y="2743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Steps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2944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sec / step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64408" y="2212848"/>
            <a:ext cx="2743200" cy="1005840"/>
          </a:xfrm>
          <a:prstGeom prst="rect">
            <a:avLst/>
          </a:prstGeom>
          <a:solidFill>
            <a:srgbClr val="252540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 hrs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264408" y="2743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Covered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64408" y="2944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 Feb 15 → 07:53 Feb 16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08776" y="2212848"/>
            <a:ext cx="2743200" cy="1005840"/>
          </a:xfrm>
          <a:prstGeom prst="rect">
            <a:avLst/>
          </a:prstGeom>
          <a:solidFill>
            <a:srgbClr val="252540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208776" y="2743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08776" y="2944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(16 turns) + Step 4,818 (1 turn)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153144" y="2212848"/>
            <a:ext cx="2743200" cy="1005840"/>
          </a:xfrm>
          <a:prstGeom prst="rect">
            <a:avLst/>
          </a:prstGeom>
          <a:solidFill>
            <a:srgbClr val="252540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53144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~91%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153144" y="2743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States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53144" y="2944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13,700 of 15,000 agent-steps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" y="33375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Activities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0040" y="3611880"/>
            <a:ext cx="2743200" cy="256032"/>
          </a:xfrm>
          <a:prstGeom prst="rect">
            <a:avLst/>
          </a:prstGeom>
          <a:solidFill>
            <a:srgbClr val="1A1A2E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" y="3639312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63240" y="3611880"/>
            <a:ext cx="4114800" cy="256032"/>
          </a:xfrm>
          <a:prstGeom prst="rect">
            <a:avLst/>
          </a:prstGeom>
          <a:solidFill>
            <a:srgbClr val="1A1A2E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36392" y="3639312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78040" y="3611880"/>
            <a:ext cx="2560320" cy="256032"/>
          </a:xfrm>
          <a:prstGeom prst="rect">
            <a:avLst/>
          </a:prstGeom>
          <a:solidFill>
            <a:srgbClr val="1A1A2E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51192" y="363931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738360" y="3611880"/>
            <a:ext cx="1920240" cy="256032"/>
          </a:xfrm>
          <a:prstGeom prst="rect">
            <a:avLst/>
          </a:prstGeom>
          <a:solidFill>
            <a:srgbClr val="1A1A2E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11512" y="363931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3867912"/>
            <a:ext cx="2743200" cy="292608"/>
          </a:xfrm>
          <a:prstGeom prst="rect">
            <a:avLst/>
          </a:prstGeom>
          <a:solidFill>
            <a:srgbClr val="2A2A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" y="390448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Mingzhu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063240" y="3867912"/>
            <a:ext cx="4114800" cy="292608"/>
          </a:xfrm>
          <a:prstGeom prst="rect">
            <a:avLst/>
          </a:prstGeom>
          <a:solidFill>
            <a:srgbClr val="2A2A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36392" y="39044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Lantern Festival gathering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78040" y="3867912"/>
            <a:ext cx="2560320" cy="292608"/>
          </a:xfrm>
          <a:prstGeom prst="rect">
            <a:avLst/>
          </a:prstGeom>
          <a:solidFill>
            <a:srgbClr val="2A2A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51192" y="390448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18:00–19:00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738360" y="3867912"/>
            <a:ext cx="1920240" cy="292608"/>
          </a:xfrm>
          <a:prstGeom prst="rect">
            <a:avLst/>
          </a:prstGeom>
          <a:solidFill>
            <a:srgbClr val="2A2A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11512" y="39044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~360 steps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4160520"/>
            <a:ext cx="2743200" cy="292608"/>
          </a:xfrm>
          <a:prstGeom prst="rect">
            <a:avLst/>
          </a:prstGeom>
          <a:solidFill>
            <a:srgbClr val="252535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192" y="419709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Zian + An Lushan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063240" y="4160520"/>
            <a:ext cx="4114800" cy="292608"/>
          </a:xfrm>
          <a:prstGeom prst="rect">
            <a:avLst/>
          </a:prstGeom>
          <a:solidFill>
            <a:srgbClr val="252535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36392" y="419709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Scholar-merchant conversation (16 turns)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178040" y="4160520"/>
            <a:ext cx="2560320" cy="292608"/>
          </a:xfrm>
          <a:prstGeom prst="rect">
            <a:avLst/>
          </a:prstGeom>
          <a:solidFill>
            <a:srgbClr val="252535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51192" y="419709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18:01–18:18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738360" y="4160520"/>
            <a:ext cx="1920240" cy="292608"/>
          </a:xfrm>
          <a:prstGeom prst="rect">
            <a:avLst/>
          </a:prstGeom>
          <a:solidFill>
            <a:srgbClr val="252535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11512" y="41970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steps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0040" y="4453128"/>
            <a:ext cx="2743200" cy="292608"/>
          </a:xfrm>
          <a:prstGeom prst="rect">
            <a:avLst/>
          </a:prstGeom>
          <a:solidFill>
            <a:srgbClr val="2A2A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3192" y="448970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Lushan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063240" y="4453128"/>
            <a:ext cx="4114800" cy="292608"/>
          </a:xfrm>
          <a:prstGeom prst="rect">
            <a:avLst/>
          </a:prstGeom>
          <a:solidFill>
            <a:srgbClr val="2A2A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36392" y="448970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Market trade &amp; feast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178040" y="4453128"/>
            <a:ext cx="2560320" cy="292608"/>
          </a:xfrm>
          <a:prstGeom prst="rect">
            <a:avLst/>
          </a:prstGeom>
          <a:solidFill>
            <a:srgbClr val="2A2A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51192" y="44897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~19:53–20:53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738360" y="4453128"/>
            <a:ext cx="1920240" cy="292608"/>
          </a:xfrm>
          <a:prstGeom prst="rect">
            <a:avLst/>
          </a:prstGeom>
          <a:solidFill>
            <a:srgbClr val="2A2A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11512" y="44897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~360 steps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20040" y="4745736"/>
            <a:ext cx="2743200" cy="292608"/>
          </a:xfrm>
          <a:prstGeom prst="rect">
            <a:avLst/>
          </a:prstGeom>
          <a:solidFill>
            <a:srgbClr val="252535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93192" y="47823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Zian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063240" y="4745736"/>
            <a:ext cx="4114800" cy="292608"/>
          </a:xfrm>
          <a:prstGeom prst="rect">
            <a:avLst/>
          </a:prstGeom>
          <a:solidFill>
            <a:srgbClr val="252535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36392" y="478231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Copying Classics at desk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178040" y="4745736"/>
            <a:ext cx="2560320" cy="292608"/>
          </a:xfrm>
          <a:prstGeom prst="rect">
            <a:avLst/>
          </a:prstGeom>
          <a:solidFill>
            <a:srgbClr val="252535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51192" y="47823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~21:00–22:33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738360" y="4745736"/>
            <a:ext cx="1920240" cy="292608"/>
          </a:xfrm>
          <a:prstGeom prst="rect">
            <a:avLst/>
          </a:prstGeom>
          <a:solidFill>
            <a:srgbClr val="252535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47823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 steps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0" y="6601968"/>
            <a:ext cx="121920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83" name="Text 81"/>
          <p:cNvSpPr/>
          <p:nvPr/>
        </p:nvSpPr>
        <p:spPr>
          <a:xfrm>
            <a:off x="274320" y="664768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Overview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0" y="6647688"/>
            <a:ext cx="1188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  ·  5,000 Steps  ·  742 AD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Interaction: Scholar Meets Merchant  (Step 8)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1521440" cy="228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70432"/>
            <a:ext cx="11521440" cy="347472"/>
          </a:xfrm>
          <a:prstGeom prst="rect">
            <a:avLst/>
          </a:prstGeom>
          <a:solidFill>
            <a:srgbClr val="252540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0742-02-15 18:01:20  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Lushan &amp; Chen Zian  ·  Scholar's Inn common room  ·  16 turns  ·  ~100 steps duration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7772400" cy="256032"/>
          </a:xfrm>
          <a:prstGeom prst="rect">
            <a:avLst/>
          </a:prstGeom>
          <a:solidFill>
            <a:srgbClr val="1A3A5C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550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Zian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7772400" cy="658368"/>
          </a:xfrm>
          <a:prstGeom prst="rect">
            <a:avLst/>
          </a:prstGeom>
          <a:solidFill>
            <a:srgbClr val="25254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9202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merchant who travels the realm, do you know what qualities the current examiners favor — moral clarity or ornate literary style?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0" y="2633472"/>
            <a:ext cx="7772400" cy="256032"/>
          </a:xfrm>
          <a:prstGeom prst="rect">
            <a:avLst/>
          </a:prstGeom>
          <a:solidFill>
            <a:srgbClr val="2C4A2E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6609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Lushan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2889504"/>
            <a:ext cx="7772400" cy="658368"/>
          </a:xfrm>
          <a:prstGeom prst="rect">
            <a:avLst/>
          </a:prstGeom>
          <a:solidFill>
            <a:srgbClr val="252540"/>
          </a:solidFill>
          <a:ln w="10160">
            <a:solidFill>
              <a:srgbClr val="2C4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92608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examination halls are somewhat beyond my expertise. But the families of successful candidates often become my best customers — perhaps I could make inquiries among my contacts in exchange for an introduction?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639312"/>
            <a:ext cx="7772400" cy="256032"/>
          </a:xfrm>
          <a:prstGeom prst="rect">
            <a:avLst/>
          </a:prstGeom>
          <a:solidFill>
            <a:srgbClr val="1A3A5C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66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Zian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95344"/>
            <a:ext cx="7772400" cy="658368"/>
          </a:xfrm>
          <a:prstGeom prst="rect">
            <a:avLst/>
          </a:prstGeom>
          <a:solidFill>
            <a:srgbClr val="252540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93192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who succeed often have families with means and connections to influential households. Perhaps we could speak further at Li Mingzhu's tea house?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0" y="4645152"/>
            <a:ext cx="7772400" cy="256032"/>
          </a:xfrm>
          <a:prstGeom prst="rect">
            <a:avLst/>
          </a:prstGeom>
          <a:solidFill>
            <a:srgbClr val="2C4A2E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467258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Lushan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4901184"/>
            <a:ext cx="7772400" cy="658368"/>
          </a:xfrm>
          <a:prstGeom prst="rect">
            <a:avLst/>
          </a:prstGeom>
          <a:solidFill>
            <a:srgbClr val="252540"/>
          </a:solidFill>
          <a:ln w="10160">
            <a:solidFill>
              <a:srgbClr val="2C4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493776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Mingzhu's tea house — yes, I know it well. I would be honored. Scholars like yourself have needs I might help with... and you might recommend a customer for my glassware?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5806440"/>
            <a:ext cx="11521440" cy="502920"/>
          </a:xfrm>
          <a:prstGeom prst="rect">
            <a:avLst/>
          </a:prstGeom>
          <a:solidFill>
            <a:srgbClr val="1A2A1A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83387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Emergent behavior: </a:t>
            </a:r>
            <a:pPr indent="0" marL="0"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agents independently named Li Mingzhu's tea house as a meeting point — without scripted coordination. The instrumental exchange (intelligence-for-customers) mirrors documented Tang cross-class social dynamics.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6601968"/>
            <a:ext cx="121920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664768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Documentation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188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  ·  5,000 Steps  ·  742 AD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1521440" cy="228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07008"/>
            <a:ext cx="457200" cy="1389888"/>
          </a:xfrm>
          <a:prstGeom prst="rect">
            <a:avLst/>
          </a:prstGeom>
          <a:solidFill>
            <a:srgbClr val="2C5F2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709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064240" cy="1389888"/>
          </a:xfrm>
          <a:prstGeom prst="rect">
            <a:avLst/>
          </a:prstGeom>
          <a:solidFill>
            <a:srgbClr val="252540"/>
          </a:solidFill>
          <a:ln w="10160">
            <a:solidFill>
              <a:srgbClr val="2C5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9844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Consistency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63677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acted within their seeded role when active. Li Mingzhu hosted. Chen Zian sought examination intelligence. An Lushan converted encounters into commercial opportunities. Goal architecture worked directionally — the problem was coverage, not coherence.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79776"/>
            <a:ext cx="457200" cy="1389888"/>
          </a:xfrm>
          <a:prstGeom prst="rect">
            <a:avLst/>
          </a:prstGeom>
          <a:solidFill>
            <a:srgbClr val="1A4A6B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2826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" y="2779776"/>
            <a:ext cx="11064240" cy="1389888"/>
          </a:xfrm>
          <a:prstGeom prst="rect">
            <a:avLst/>
          </a:prstGeom>
          <a:solidFill>
            <a:srgbClr val="252540"/>
          </a:solidFill>
          <a:ln w="10160">
            <a:solidFill>
              <a:srgbClr val="1A4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871216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Emergent Social Convergence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209544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Zian and An Lushan both independently named Li Mingzhu's tea house as a meeting venue without coordination. Memory-seeded social knowledge produced historically plausible emergent behavior beyond the prompt specifications.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352544"/>
            <a:ext cx="457200" cy="1389888"/>
          </a:xfrm>
          <a:prstGeom prst="rect">
            <a:avLst/>
          </a:prstGeom>
          <a:solidFill>
            <a:srgbClr val="7A2A2A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8554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4672" y="4352544"/>
            <a:ext cx="11064240" cy="1389888"/>
          </a:xfrm>
          <a:prstGeom prst="rect">
            <a:avLst/>
          </a:prstGeom>
          <a:solidFill>
            <a:srgbClr val="252540"/>
          </a:solidFill>
          <a:ln w="10160">
            <a:solidFill>
              <a:srgbClr val="7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44398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Dominance (~91%)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78231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~13,700 of 15,000 agent-steps were sleep states during the Lantern Festival. The Smallville scheduling system (built for a contemporary American college town) generates daily plans that default to long sleep blocks — overriding even explicit festival-hosting goals.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920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664768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6647688"/>
            <a:ext cx="1188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  ·  5,000 Steps  ·  742 AD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Plausibility Evaluation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1521440" cy="228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70432"/>
            <a:ext cx="539496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Historically Plausible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Scholar seeking examiner intelligence from a well-traveled merchant — documented Tang exam culture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Merchant identifying candidates as future customers — Sogdian social positioning in Tang elite networks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85292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Female proprietress actively hosting at festival — documented agency in Tang commercial spaces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51129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 house as neutral cross-status meeting point — consistent with Tang urban social geography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416966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Late-night study session timing matched seeded schedule almost exactly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170432"/>
            <a:ext cx="36576" cy="51206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170432"/>
            <a:ext cx="55778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17043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Anachronisms &amp; Distortions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53619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topology: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college-town tiles — incompatible with Tang Chang'an's walled ward (坊) system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English, no honorifics (先生/足下), no classical Chinese rhetorical conventions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55080" y="285292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hierarchy: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interact as equals — Tang law placed foreign merchants below exam candidates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351129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 sleep at festival: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Historically implausible — Lantern Festival was Chang'an's peak public celebration night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416966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labels: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"Isabella Rodriguez's apartment", "Oak Hill College Dorm" appear in movement logs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920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664768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Plausibility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6647688"/>
            <a:ext cx="1188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  ·  5,000 Steps  ·  742 AD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Simulation, Context &amp; Critique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1521440" cy="228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70432"/>
            <a:ext cx="11521440" cy="548640"/>
          </a:xfrm>
          <a:prstGeom prst="rect">
            <a:avLst/>
          </a:prstGeom>
          <a:solidFill>
            <a:srgbClr val="2A2A50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Position: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simulation generates plausible behaviors, not historical truth. It is a scaffold for inquiry, not a reconstruction of the past.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5577840" cy="2011680"/>
          </a:xfrm>
          <a:prstGeom prst="rect">
            <a:avLst/>
          </a:prstGeom>
          <a:solidFill>
            <a:srgbClr val="252540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01952"/>
            <a:ext cx="384048" cy="2011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6517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199339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as implicit historical 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2359152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MiniMax-M2's knowledge of Tang Dynasty social dynamics is uneven — shaped by the relative presence of Tang history in training data. Fluent dialogue ≠ historically vetted content.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901952"/>
            <a:ext cx="5577840" cy="2011680"/>
          </a:xfrm>
          <a:prstGeom prst="rect">
            <a:avLst/>
          </a:prstGeom>
          <a:solidFill>
            <a:srgbClr val="252540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901952"/>
            <a:ext cx="384048" cy="2011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6517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93408" y="199339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assumptions embedded in 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93408" y="2359152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Individualist goal architectures, text-as-primary-action, three agents representing one million people, a college-town map as "neutral" substrate — all are historical claims, not neutral choices.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4050792"/>
            <a:ext cx="5577840" cy="2011680"/>
          </a:xfrm>
          <a:prstGeom prst="rect">
            <a:avLst/>
          </a:prstGeom>
          <a:solidFill>
            <a:srgbClr val="252540"/>
          </a:solidFill>
          <a:ln w="10160">
            <a:solidFill>
              <a:srgbClr val="8B69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050792"/>
            <a:ext cx="384048" cy="201168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80060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5528" y="414223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structurally absent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507992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hierarchy, ethnic status, gendered access to commercial space, collective behavior, material culture, sensory experience — and the majority of historical actors: laborers, servants, the poor.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050792"/>
            <a:ext cx="5577840" cy="2011680"/>
          </a:xfrm>
          <a:prstGeom prst="rect">
            <a:avLst/>
          </a:prstGeom>
          <a:solidFill>
            <a:srgbClr val="252540"/>
          </a:solidFill>
          <a:ln w="10160">
            <a:solidFill>
              <a:srgbClr val="8B69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050792"/>
            <a:ext cx="384048" cy="201168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80060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93408" y="414223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Prerequisites for students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93408" y="4507992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 exam system (科举), Silk Road &amp; Sogdian merchants, Lantern Festival legal significance, critical AI literacy — all needed BEFORE engaging with this simulation.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920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664768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6647688"/>
            <a:ext cx="1188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  ·  5,000 Steps  ·  742 AD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&amp; Limitations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1521440" cy="228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70432"/>
            <a:ext cx="5394960" cy="29260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7043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274320" cy="5486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1508760"/>
            <a:ext cx="5093208" cy="548640"/>
          </a:xfrm>
          <a:prstGeom prst="rect">
            <a:avLst/>
          </a:prstGeom>
          <a:solidFill>
            <a:srgbClr val="252540"/>
          </a:solidFill>
          <a:ln w="635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536192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instrumental social logic (intelligence-for-customers) without explicit scripting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13432"/>
            <a:ext cx="274320" cy="5486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5915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2313432"/>
            <a:ext cx="5093208" cy="548640"/>
          </a:xfrm>
          <a:prstGeom prst="rect">
            <a:avLst/>
          </a:prstGeom>
          <a:solidFill>
            <a:srgbClr val="252540"/>
          </a:solidFill>
          <a:ln w="6350">
            <a:solidFill>
              <a:srgbClr val="1A6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340864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Mingzhu's dusk hosting demonstrates successful goal-schedule alignment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18104"/>
            <a:ext cx="274320" cy="5486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1638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3118104"/>
            <a:ext cx="5093208" cy="548640"/>
          </a:xfrm>
          <a:prstGeom prst="rect">
            <a:avLst/>
          </a:prstGeom>
          <a:solidFill>
            <a:srgbClr val="252540"/>
          </a:solidFill>
          <a:ln w="6350">
            <a:solidFill>
              <a:srgbClr val="1A6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145536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Spontaneous tea house convergence shows seeded memory producing contextually appropriate behavior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922776"/>
            <a:ext cx="274320" cy="5486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9684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" y="3922776"/>
            <a:ext cx="5093208" cy="548640"/>
          </a:xfrm>
          <a:prstGeom prst="rect">
            <a:avLst/>
          </a:prstGeom>
          <a:solidFill>
            <a:srgbClr val="252540"/>
          </a:solidFill>
          <a:ln w="6350">
            <a:solidFill>
              <a:srgbClr val="1A6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950208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steps / 14 hours provides a full daily arc across all three agent archetypes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727448"/>
            <a:ext cx="274320" cy="5486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7731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" y="4727448"/>
            <a:ext cx="5093208" cy="548640"/>
          </a:xfrm>
          <a:prstGeom prst="rect">
            <a:avLst/>
          </a:prstGeom>
          <a:solidFill>
            <a:srgbClr val="252540"/>
          </a:solidFill>
          <a:ln w="6350">
            <a:solidFill>
              <a:srgbClr val="1A6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754880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conversations, including a rich 16-turn exchange with historically coherent social dynamics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170432"/>
            <a:ext cx="36576" cy="51206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0" name="Shape 28"/>
          <p:cNvSpPr/>
          <p:nvPr/>
        </p:nvSpPr>
        <p:spPr>
          <a:xfrm>
            <a:off x="6263640" y="1170432"/>
            <a:ext cx="557784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17043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63640" y="1508760"/>
            <a:ext cx="27432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65392" y="1508760"/>
            <a:ext cx="5276088" cy="548640"/>
          </a:xfrm>
          <a:prstGeom prst="rect">
            <a:avLst/>
          </a:prstGeom>
          <a:solidFill>
            <a:srgbClr val="25254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1536192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~91% sleep states during the Lantern Festival — scheduling architecture incompatible with the historical scenario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2313432"/>
            <a:ext cx="27432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235915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65392" y="2313432"/>
            <a:ext cx="5276088" cy="548640"/>
          </a:xfrm>
          <a:prstGeom prst="rect">
            <a:avLst/>
          </a:prstGeom>
          <a:solidFill>
            <a:srgbClr val="25254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2340864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 map (American college town) creates a structural spatial mismatch that prompt engineering alone cannot fix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118104"/>
            <a:ext cx="27432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31638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65392" y="3118104"/>
            <a:ext cx="5276088" cy="548640"/>
          </a:xfrm>
          <a:prstGeom prst="rect">
            <a:avLst/>
          </a:prstGeom>
          <a:solidFill>
            <a:srgbClr val="25254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145536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conversations in 5,000 steps; conversation state lock-in (~100 steps) is an architectural artifact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3922776"/>
            <a:ext cx="27432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39684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65392" y="3922776"/>
            <a:ext cx="5276088" cy="548640"/>
          </a:xfrm>
          <a:prstGeom prst="rect">
            <a:avLst/>
          </a:prstGeom>
          <a:solidFill>
            <a:srgbClr val="25254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6832" y="3950208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power, collective behavior, material culture, and non-linguistic social action are entirely absent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63640" y="4727448"/>
            <a:ext cx="27432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47731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65392" y="4727448"/>
            <a:ext cx="5276088" cy="548640"/>
          </a:xfrm>
          <a:prstGeom prst="rect">
            <a:avLst/>
          </a:prstGeom>
          <a:solidFill>
            <a:srgbClr val="25254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56832" y="4754880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agents cannot represent the diversity of a city of one million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6601968"/>
            <a:ext cx="121920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664768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Limitations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0" y="6647688"/>
            <a:ext cx="1188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  ·  5,000 Steps  ·  742 AD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Reflection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1521440" cy="228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0700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simulation produces its most historically interesting output precisely where it fails. 91% sleep states during the Lantern Festival, agents coded as 'conversing' while physically diverging, a scheduling system that overrides a festival-hosting goal — these reveal the framework's inherited assumptions, not historical reality.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115214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304288"/>
            <a:ext cx="11521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simulation did work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 Mingzhu's opening hour of hosting, the instrumental scholar-merchant exchange, the spontaneous naming of the tea house — it demonstrated that LLM agents with seeded historical memory can produce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directionally plausible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social behavior. That is the simulation's real value: not as a reconstruction of the past, but as a generative prompt for asking what historically plausible behavior looks like — and why the simulation so often fails to produce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401568"/>
            <a:ext cx="115214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351129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Metadata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858768"/>
            <a:ext cx="5577840" cy="402336"/>
          </a:xfrm>
          <a:prstGeom prst="rect">
            <a:avLst/>
          </a:prstGeom>
          <a:solidFill>
            <a:srgbClr val="2525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Code: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39136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858768"/>
            <a:ext cx="5577840" cy="402336"/>
          </a:xfrm>
          <a:prstGeom prst="rect">
            <a:avLst/>
          </a:prstGeom>
          <a:solidFill>
            <a:srgbClr val="2A2A48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38160" y="39136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Smallville (Park et al., 2023) — headless adaptation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334256"/>
            <a:ext cx="5577840" cy="402336"/>
          </a:xfrm>
          <a:prstGeom prst="rect">
            <a:avLst/>
          </a:prstGeom>
          <a:solidFill>
            <a:srgbClr val="2525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43891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MiniMax-M2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334256"/>
            <a:ext cx="5577840" cy="402336"/>
          </a:xfrm>
          <a:prstGeom prst="rect">
            <a:avLst/>
          </a:prstGeom>
          <a:solidFill>
            <a:srgbClr val="2A2A48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/ Time: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43891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steps · 0742-02-15 18:00 → 0742-02-16 07:53 (~14 hours)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809744"/>
            <a:ext cx="5577840" cy="402336"/>
          </a:xfrm>
          <a:prstGeom prst="rect">
            <a:avLst/>
          </a:prstGeom>
          <a:solidFill>
            <a:srgbClr val="252540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864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Conversations: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40280" y="48646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(Step 8: 16 turns · Step 4,818: 1 turn)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4809744"/>
            <a:ext cx="5577840" cy="402336"/>
          </a:xfrm>
          <a:prstGeom prst="rect">
            <a:avLst/>
          </a:prstGeom>
          <a:solidFill>
            <a:srgbClr val="2A2A48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864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Agent-Steps: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48646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~1,300 / 15,000 (~9%)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601968"/>
            <a:ext cx="121920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664768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Reflection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188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tang_run_5000  ·  5,000 Steps  ·  742 AD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2026-04-27T22:53:22Z</dcterms:created>
  <dcterms:modified xsi:type="dcterms:W3CDTF">2026-04-27T22:53:22Z</dcterms:modified>
</cp:coreProperties>
</file>